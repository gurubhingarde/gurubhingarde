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63440"/>
            <a:ext cx="121889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88952" cy="2103120"/>
          </a:xfrm>
          <a:prstGeom prst="rect">
            <a:avLst/>
          </a:prstGeom>
          <a:solidFill>
            <a:srgbClr val="1F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JSW FlashXpert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93C5FD"/>
                </a:solidFill>
              </a:rPr>
              <a:t>V2.0 — Tool Upgrade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D8A4"/>
                </a:solidFill>
              </a:rPr>
              <a:t>New Capabilities Added: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37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✦  Oil Pump ECU Flashing      ✦  Air Pump ECU Flashing      ✦  Phase 2 — VCU FOTA Flashing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834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FDBFF"/>
                </a:solidFill>
              </a:rPr>
              <a:t>Controls &amp; Software Department
R&amp;D — JSW Greentech Limited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4983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FDBFF"/>
                </a:solidFill>
              </a:rP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</a:rPr>
              <a:t>What this presentation covers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54864" cy="1828800"/>
          </a:xfrm>
          <a:prstGeom prst="rect">
            <a:avLst/>
          </a:prstGeom>
          <a:solidFill>
            <a:srgbClr val="1F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64591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4E96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103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3C69"/>
                </a:solidFill>
              </a:rPr>
              <a:t>Tool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5146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Original JSW FlashXpert capabilities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150876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9392" y="1508760"/>
            <a:ext cx="54864" cy="1828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3983" y="164591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7AE60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3" y="2103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3C69"/>
                </a:solidFill>
              </a:rPr>
              <a:t>Oil Pump Flashing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3" y="25146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Custom CAN protocol — OEM block parser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8744" y="150876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38744" y="1508760"/>
            <a:ext cx="54864" cy="1828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164591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67E22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2103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3C69"/>
                </a:solidFill>
              </a:rPr>
              <a:t>Air Pump Flashing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25146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Same protocol, different ECU address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7033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703320"/>
            <a:ext cx="54864" cy="1828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" y="3840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74C3C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4297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3C69"/>
                </a:solidFill>
              </a:rPr>
              <a:t>Phase 2 — VCU FOTA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" y="47091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UDS over ISO-TP, 10-step sequence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79392" y="37033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79392" y="3703320"/>
            <a:ext cx="54864" cy="1828800"/>
          </a:xfrm>
          <a:prstGeom prst="rect">
            <a:avLst/>
          </a:prstGeom>
          <a:solidFill>
            <a:srgbClr val="70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43983" y="3840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705DD6"/>
                </a:solidFill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3983" y="4297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3C69"/>
                </a:solidFill>
              </a:rPr>
              <a:t>Live Pump Monitor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3983" y="47091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Real-time CAN data dashboard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38744" y="37033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38744" y="3703320"/>
            <a:ext cx="54864" cy="1828800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03336" y="3840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3C69"/>
                </a:solidFill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03336" y="4297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3C69"/>
                </a:solidFill>
              </a:rPr>
              <a:t>Architecture &amp; Key Facts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03336" y="47091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</a:rPr>
              <a:t>Protocol summary, CAN IDs, tech stack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F"/>
                </a:solidFill>
              </a:rPr>
              <a:t>JSW Greentech Limited  —  Controls &amp; Software Department  | 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65836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JSW FlashXpert  V2.0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JSW FlashXpert — Original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</a:rPr>
              <a:t>Capabilities before this upgrade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53949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54864" cy="2286000"/>
          </a:xfrm>
          <a:prstGeom prst="rect">
            <a:avLst/>
          </a:prstGeom>
          <a:solidFill>
            <a:srgbClr val="1F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3C69"/>
                </a:solidFill>
              </a:rPr>
              <a:t>Original Supported Controllers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JSW EVCU  (Electric Vehicle Control Unit)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JSW MCU   (Motor Control Unit)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JSW DCDC  (DC-DC Converter)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463040"/>
            <a:ext cx="59436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1463040"/>
            <a:ext cx="54864" cy="2286000"/>
          </a:xfrm>
          <a:prstGeom prst="rect">
            <a:avLst/>
          </a:prstGeom>
          <a:solidFill>
            <a:srgbClr val="1F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554480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3C69"/>
                </a:solidFill>
              </a:rPr>
              <a:t>Flash Protocol (UDS)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938528"/>
            <a:ext cx="5669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Custom 8-byte CAN frames over extended IDs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Programming session → Erase → Download → Verify → Reset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CRC32 post-flash handshake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Ignition OFF → ON procedure for all controllers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977639"/>
            <a:ext cx="53949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977639"/>
            <a:ext cx="54864" cy="2286000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069079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3C69"/>
                </a:solidFill>
              </a:rPr>
              <a:t>Other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53127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Read firmware version (JSW MCU &amp; EVCU)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Progress sidebar with 6-step visual tracker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Save / clear flash log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Domain-join security check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3977639"/>
            <a:ext cx="59436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3977639"/>
            <a:ext cx="54864" cy="2286000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4069079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3C69"/>
                </a:solidFill>
              </a:rPr>
              <a:t>Hardware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4453127"/>
            <a:ext cx="5669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PEAK PCAN (PCANBasic.dll)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Vector CANalyzer interface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Kvaser CAN adapter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Fixed 250 kbps for all controllers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F"/>
                </a:solidFill>
              </a:rPr>
              <a:t>JSW Greentech Limited  —  Controls &amp; Software Department  |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5836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JSW FlashXpert  V2.0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V2.0 — What's New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</a:rPr>
              <a:t>Three major features added to JSW FlashXpert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65760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657600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4630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Oil Pump
ECU Flashing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28600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11827"/>
                </a:solidFill>
              </a:rPr>
              <a:t>✓  Custom 8-byte CAN protocol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11827"/>
                </a:solidFill>
              </a:rPr>
              <a:t>✓  OEM stride-anomaly block parser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11827"/>
                </a:solidFill>
              </a:rPr>
              <a:t>✓  Broadcast wakeup (live ECU)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11827"/>
                </a:solidFill>
              </a:rPr>
              <a:t>✓  Power OFF → ON procedure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11827"/>
                </a:solidFill>
              </a:rPr>
              <a:t>✓  dev_id = 0x05  |  250 kbps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365760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417320"/>
            <a:ext cx="3657600" cy="777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14630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Air Pump
ECU Flashing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228600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11827"/>
                </a:solidFill>
              </a:rPr>
              <a:t>✓  Same custom CAN protocol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11827"/>
                </a:solidFill>
              </a:rPr>
              <a:t>✓  Sequential block builder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11827"/>
                </a:solidFill>
              </a:rPr>
              <a:t>✓  Broadcast wakeup support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11827"/>
                </a:solidFill>
              </a:rPr>
              <a:t>✓  Power OFF → ON procedure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11827"/>
                </a:solidFill>
              </a:rPr>
              <a:t>✓  dev_id = 0x06  |  250 kbps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417320"/>
            <a:ext cx="3657600" cy="50749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417320"/>
            <a:ext cx="3657600" cy="7772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4630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Phase 2
VCU FOTA Flash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28600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11827"/>
                </a:solidFill>
              </a:rPr>
              <a:t>✓  UDS over ISO-TP (can-isotp)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11827"/>
                </a:solidFill>
              </a:rPr>
              <a:t>✓  10-step UDS sequence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11827"/>
                </a:solidFill>
              </a:rPr>
              <a:t>✓  SecurityAccess.dll key derive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11827"/>
                </a:solidFill>
              </a:rPr>
              <a:t>✓  OTA binary with OtaPlainHdr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11827"/>
                </a:solidFill>
              </a:rPr>
              <a:t>✓  TX 0x7E0 / RX 0x7E8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F"/>
                </a:solidFill>
              </a:rPr>
              <a:t>JSW Greentech Limited  —  Controls &amp; Software Department  | 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5836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JSW FlashXpert  V2.0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Oil Pump ECU Flashing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</a:rPr>
              <a:t>JSW Oil Pump  —  dev_id 0x05  |  Custom 8-byte CAN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365760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54864" cy="2331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3C69"/>
                </a:solidFill>
              </a:rPr>
              <a:t>CAN 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Broadcast  : 0x1800FFFF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Tool → ECU : 0x180005FF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ECU → Tool : 0x1800FF05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NAK        : 0x1800EEEE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463040"/>
            <a:ext cx="768096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463040"/>
            <a:ext cx="54864" cy="2331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554480"/>
            <a:ext cx="7452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3C69"/>
                </a:solidFill>
              </a:rPr>
              <a:t>Flash Sequence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938528"/>
            <a:ext cx="7406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1. Broadcast wakeup (FF 02 05 …) — reboots live ECU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2. Heartbeat until ECU responds (up to 60 × 100 ms)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3. Block init + erase per block (0x04 frame)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4. Data frames toggle 0x01 / 0x02 (6 bytes payload each)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5. End-of-block frame (0x00 + block_id)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6. Program CRC address (0x04 on CRC addr)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7. Verify CRC (0x01 frame)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8. Close session (0x03 frame)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977639"/>
            <a:ext cx="539496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977639"/>
            <a:ext cx="54864" cy="2286000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069079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3C69"/>
                </a:solidFill>
              </a:rPr>
              <a:t>Firmware Versions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53127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VER1: stride anomalies → OEM block parser (7 blocks)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VER2 / VER3: sequential → 5 blocks at 0x3E8000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Stride anomaly detection: gap &gt; prev_bc ÷ 2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Block IDs auto-computed from BLOCK_ID_BASE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3977639"/>
            <a:ext cx="59436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3977639"/>
            <a:ext cx="54864" cy="2286000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4069079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3C69"/>
                </a:solidFill>
              </a:rPr>
              <a:t>Frame Format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4453127"/>
            <a:ext cx="5669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8 bytes:  [TYPE][P1][P2][P3][P4][P5][P6][XOR8]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XOR8 = XOR of first 7 bytes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ACK = ECU echoes exact frame on ECU ID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Payload = 6 bytes of firmware data per frame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F"/>
                </a:solidFill>
              </a:rPr>
              <a:t>JSW Greentech Limited  —  Controls &amp; Software Department  |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5836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JSW FlashXpert  V2.0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Air Pump ECU Flashing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</a:rPr>
              <a:t>JSW Air Pump  —  dev_id 0x06  |  Same protocol, different address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365760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54864" cy="21945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3C69"/>
                </a:solidFill>
              </a:rPr>
              <a:t>CAN 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Broadcast  : 0x1800FFFF  (shared)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Tool → ECU : 0x180006FF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ECU → Tool : 0x1800FF06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NAK        : 0x1800EEEE  (shared)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463040"/>
            <a:ext cx="7680960" cy="21945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463040"/>
            <a:ext cx="54864" cy="21945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554480"/>
            <a:ext cx="7452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3C69"/>
                </a:solidFill>
              </a:rPr>
              <a:t>Key Differences vs Oil Pump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1938528"/>
            <a:ext cx="74066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ECU address byte 0x06 (Oil Pump = 0x05)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No stride anomalies — always sequential blocks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Heartbeat byte auto-computed from hex base address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Same 8-byte frame format, same ACK mechanism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Same Power OFF → ON procedure in GUI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840480"/>
            <a:ext cx="566928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840480"/>
            <a:ext cx="54864" cy="2423160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3C69"/>
                </a:solidFill>
              </a:rPr>
              <a:t>Heartbeat Byte Formula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15968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hb_byte = (BLOCK_ID_BASE − base_addr) ÷ 0x2000 + 1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BLOCK_ID_BASE = 0x003F4000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Example: base 0x3E8000 → hb_byte = 0x07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Example: base 0x3EA000 → hb_byte = 0x06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Auto-detected from Intel HEX file — no manual config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840480"/>
            <a:ext cx="5669280" cy="24231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840480"/>
            <a:ext cx="54864" cy="2423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931920"/>
            <a:ext cx="5440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3C69"/>
                </a:solidFill>
              </a:rPr>
              <a:t>GUI Flow (Both Pumps)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315968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1. Select pump type (Air / Oil)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2. Select CAN hardware + browse HEX file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3. Click Start Flashing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4. Dialog: TURN OFF power → click OK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5. Dialog: TURN ON power → flashing starts automatically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6. Progress sidebar turns green step by step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F"/>
                </a:solidFill>
              </a:rPr>
              <a:t>JSW Greentech Limited  —  Controls &amp; Software Department  |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5836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JSW FlashXpert  V2.0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Phase 2 — VCU FOTA Flashing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</a:rPr>
              <a:t>S32K144 ECU  |  UDS over ISO-TP  |  SecurityAccess.dll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1737360" cy="2011680"/>
          </a:xfrm>
          <a:prstGeom prst="rect">
            <a:avLst/>
          </a:prstGeom>
          <a:solidFill>
            <a:srgbClr val="163C69"/>
          </a:solidFill>
          <a:ln>
            <a:solidFill>
              <a:srgbClr val="16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D8A4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874519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Diag
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42316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F"/>
                </a:solidFill>
              </a:rPr>
              <a:t>0x10 0x02
Catch bootloader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5688" y="21945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3C69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58568" y="1463040"/>
            <a:ext cx="173736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16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50008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0008" y="1874519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3C69"/>
                </a:solidFill>
              </a:rPr>
              <a:t>Security
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0008" y="242316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0x27 01 seed
0x27 02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14216" y="21945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3C69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97096" y="1463040"/>
            <a:ext cx="173736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16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88536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8536" y="1874519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3C69"/>
                </a:solidFill>
              </a:rPr>
              <a:t>Erase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8536" y="242316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0x31 01 FF 00
App slot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52744" y="21945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3C69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35624" y="1463040"/>
            <a:ext cx="173736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16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7064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7064" y="1874519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3C69"/>
                </a:solidFill>
              </a:rPr>
              <a:t>Download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7064" y="242316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0x34 Request
0x36 Transfer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1" y="21945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3C69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74152" y="1463040"/>
            <a:ext cx="173736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16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5592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5592" y="1874519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3C69"/>
                </a:solidFill>
              </a:rPr>
              <a:t>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5592" y="242316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0x37 Exit
0x31 01 FF 01 CRC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21945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3C69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12680" y="1463040"/>
            <a:ext cx="173736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163C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0412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1874519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3C69"/>
                </a:solidFill>
              </a:rPr>
              <a:t>ECU
Reset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242316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0x2E F1 5B FP
0x11 01 Reset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749039"/>
            <a:ext cx="5486400" cy="28346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3749039"/>
            <a:ext cx="54864" cy="2834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840479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3C69"/>
                </a:solidFill>
              </a:rPr>
              <a:t>OTA Binary Format (OtaPlainHdr)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224527"/>
            <a:ext cx="52120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Magic       : 0xB00710AD (4 bytes)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Model ID    : 2 bytes  (e.g. 0x0001 = 9M Bus)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Version     : 3 bytes  (major.minor.patch)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Reserved    : 3 bytes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Comp Size   : 4 bytes  (compressed payload size)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Nonce       : 12 bytes (encryption nonce)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Payload     : encrypted + compressed firmware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3749039"/>
            <a:ext cx="5852160" cy="28346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35040" y="3749039"/>
            <a:ext cx="54864" cy="2834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0" y="3840479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3C69"/>
                </a:solidFill>
              </a:rPr>
              <a:t>Security &amp; Infrastructure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4224527"/>
            <a:ext cx="55778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SecurityAccess.dll — key derivation (ComputeKey)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ISO-TP framing via can-isotp library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CAN IDs: TX 0x7E0 / RX 0x7E8 (standard 11-bit)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0x78 NRC: ECU busy → auto-extend timeout to 5 min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Separate tab (Phase 2) in GUI — different workflow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Coloured log: green=OK  red=error  orange=warn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F"/>
                </a:solidFill>
              </a:rPr>
              <a:t>JSW Greentech Limited  —  Controls &amp; Software Department  |  CONFIDENTIAL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65836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JSW FlashXpert  V2.0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Bonus: Live Pump CAN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</a:rPr>
              <a:t>pump_monitor_gui.py  —  Replicates OEM candebug.exe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54864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54864" cy="3200400"/>
          </a:xfrm>
          <a:prstGeom prst="rect">
            <a:avLst/>
          </a:prstGeom>
          <a:solidFill>
            <a:srgbClr val="70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3C69"/>
                </a:solidFill>
              </a:rPr>
              <a:t>What It Shows (Oil Pump)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2120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Bus Voltage  •  Output Voltage  •  Output Current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Set Frequency  •  Output Frequency  •  RPM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Controller Temperature  •  Motor Temperature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Run Enable  •  CAN Enable  •  Hardwire Enable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Fault Code  (row turns RED when non-zero)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Stator R  •  D/Q Inductance  •  Back-EMF  •  PID gains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463040"/>
            <a:ext cx="585216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1463040"/>
            <a:ext cx="54864" cy="3200400"/>
          </a:xfrm>
          <a:prstGeom prst="rect">
            <a:avLst/>
          </a:prstGeom>
          <a:solidFill>
            <a:srgbClr val="70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554480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3C69"/>
                </a:solidFill>
              </a:rPr>
              <a:t>Monitor CAN IDs (from OEM tool)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938528"/>
            <a:ext cx="55778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0x4181 → Bus V, Output V, Current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0x4182 → Set Freq, Output Freq, RPM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0x4183 → Ctrl Temp, Motor Temp, Enable, Fault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0x4184 → CAN/Hardwire Enable flags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0x5010 → Motor parameters (R, L, EMF)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0x5011 → PID gains (DKp, DKi, QKp, QKi)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Each frame = 4 × uint16 big-endian values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846320"/>
            <a:ext cx="548640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4846320"/>
            <a:ext cx="54864" cy="1783080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937759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3C69"/>
                </a:solidFill>
              </a:rPr>
              <a:t>GUI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21808"/>
            <a:ext cx="521208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Active CAN IDs light up GREEN when receiving frames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CAN ID turns grey if silent &gt; 1 second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PEAK channel selector: PCAN_USBBUS1 / 2 / 3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Frame counter displayed in real time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Status bar shows interface + bitrate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4846320"/>
            <a:ext cx="585216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4846320"/>
            <a:ext cx="54864" cy="1783080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4937759"/>
            <a:ext cx="5623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3C69"/>
                </a:solidFill>
              </a:rPr>
              <a:t>Source: OEM Tool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5321808"/>
            <a:ext cx="557784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Reverse-engineered from candebug.exe config XMLs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dcac_oil_config.xml  •  dcac_gas_config.xml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dev_id 0x05 = Oil Pump  •  0x06 = Air Pump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BaudRate=3 → 250 kbps  confirmed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F"/>
                </a:solidFill>
              </a:rPr>
              <a:t>JSW Greentech Limited  —  Controls &amp; Software Department  |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5836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JSW FlashXpert  V2.0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 &amp; CAN ID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</a:rPr>
              <a:t>All controllers supported by JSW FlashXpert V2.0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1554480" cy="347472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" y="1490472"/>
            <a:ext cx="1463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1463040"/>
            <a:ext cx="1463040" cy="347472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9384" y="14904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Protocol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463040"/>
            <a:ext cx="1920240" cy="347472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92424" y="149047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Tool → ECU 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57800" y="1463040"/>
            <a:ext cx="1920240" cy="347472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12664" y="149047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ECU → Tool 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1463040"/>
            <a:ext cx="1005840" cy="347472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2903" y="149047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Bitrate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463040"/>
            <a:ext cx="1371600" cy="347472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8744" y="149047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Flash File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810512"/>
            <a:ext cx="1554480" cy="374904"/>
          </a:xfrm>
          <a:prstGeom prst="rect">
            <a:avLst/>
          </a:prstGeom>
          <a:solidFill>
            <a:srgbClr val="F6F8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" y="1865376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11827"/>
                </a:solidFill>
              </a:rPr>
              <a:t>JSW EVCU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1810512"/>
            <a:ext cx="1463040" cy="374904"/>
          </a:xfrm>
          <a:prstGeom prst="rect">
            <a:avLst/>
          </a:prstGeom>
          <a:solidFill>
            <a:srgbClr val="F6F8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9384" y="18653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Custom UDS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1810512"/>
            <a:ext cx="1920240" cy="374904"/>
          </a:xfrm>
          <a:prstGeom prst="rect">
            <a:avLst/>
          </a:prstGeom>
          <a:solidFill>
            <a:srgbClr val="F6F8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92424" y="18653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0x0B00D0D9 (ext)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57800" y="1810512"/>
            <a:ext cx="1920240" cy="374904"/>
          </a:xfrm>
          <a:prstGeom prst="rect">
            <a:avLst/>
          </a:prstGeom>
          <a:solidFill>
            <a:srgbClr val="F6F8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12664" y="18653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0x0B00D9D0 (ext)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1810512"/>
            <a:ext cx="1005840" cy="374904"/>
          </a:xfrm>
          <a:prstGeom prst="rect">
            <a:avLst/>
          </a:prstGeom>
          <a:solidFill>
            <a:srgbClr val="F6F8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32903" y="18653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250 kbps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1810512"/>
            <a:ext cx="1371600" cy="374904"/>
          </a:xfrm>
          <a:prstGeom prst="rect">
            <a:avLst/>
          </a:prstGeom>
          <a:solidFill>
            <a:srgbClr val="F6F8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38744" y="18653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.hex / .bin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194560"/>
            <a:ext cx="1554480" cy="37490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4" y="2249424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11827"/>
                </a:solidFill>
              </a:rPr>
              <a:t>JSW MCU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74519" y="2194560"/>
            <a:ext cx="14630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9384" y="22494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Custom UDS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37560" y="2194560"/>
            <a:ext cx="1920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92424" y="22494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0x0B00D0D9 (ext)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57800" y="2194560"/>
            <a:ext cx="1920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12664" y="22494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0x0B00D9D0 (ext)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78040" y="2194560"/>
            <a:ext cx="10058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32903" y="224942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250 kbps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83879" y="2194560"/>
            <a:ext cx="13716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38744" y="22494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.hex / .bin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2578608"/>
            <a:ext cx="1554480" cy="374904"/>
          </a:xfrm>
          <a:prstGeom prst="rect">
            <a:avLst/>
          </a:prstGeom>
          <a:solidFill>
            <a:srgbClr val="F6F8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4904" y="2633472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11827"/>
                </a:solidFill>
              </a:rPr>
              <a:t>JSW DCDC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74519" y="2578608"/>
            <a:ext cx="1463040" cy="374904"/>
          </a:xfrm>
          <a:prstGeom prst="rect">
            <a:avLst/>
          </a:prstGeom>
          <a:solidFill>
            <a:srgbClr val="F6F8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929384" y="26334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Custom UDS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37560" y="2578608"/>
            <a:ext cx="1920240" cy="374904"/>
          </a:xfrm>
          <a:prstGeom prst="rect">
            <a:avLst/>
          </a:prstGeom>
          <a:solidFill>
            <a:srgbClr val="F6F8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92424" y="26334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0x0B00D0D9 (ext)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57800" y="2578608"/>
            <a:ext cx="1920240" cy="374904"/>
          </a:xfrm>
          <a:prstGeom prst="rect">
            <a:avLst/>
          </a:prstGeom>
          <a:solidFill>
            <a:srgbClr val="F6F8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12664" y="26334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0x0B00D9D0 (ext)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78040" y="2578608"/>
            <a:ext cx="1005840" cy="374904"/>
          </a:xfrm>
          <a:prstGeom prst="rect">
            <a:avLst/>
          </a:prstGeom>
          <a:solidFill>
            <a:srgbClr val="F6F8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32903" y="26334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250 kbps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83879" y="2578608"/>
            <a:ext cx="1371600" cy="374904"/>
          </a:xfrm>
          <a:prstGeom prst="rect">
            <a:avLst/>
          </a:prstGeom>
          <a:solidFill>
            <a:srgbClr val="F6F8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38744" y="26334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.hex / .bin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2962656"/>
            <a:ext cx="1554480" cy="37490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4904" y="3017520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7AE60"/>
                </a:solidFill>
              </a:rPr>
              <a:t>JSW Oil Pump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74519" y="2962656"/>
            <a:ext cx="14630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929384" y="3017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Custom 8-byte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37560" y="2962656"/>
            <a:ext cx="1920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92424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0x180005FF (ext)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962656"/>
            <a:ext cx="1920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12664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0x1800FF05 (ext)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78040" y="2962656"/>
            <a:ext cx="10058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32903" y="3017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250 kbps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83879" y="2962656"/>
            <a:ext cx="13716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38744" y="3017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Intel HEX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3346704"/>
            <a:ext cx="1554480" cy="374904"/>
          </a:xfrm>
          <a:prstGeom prst="rect">
            <a:avLst/>
          </a:prstGeom>
          <a:solidFill>
            <a:srgbClr val="F6F8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74904" y="3401568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67E22"/>
                </a:solidFill>
              </a:rPr>
              <a:t>JSW Air Pump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74519" y="3346704"/>
            <a:ext cx="1463040" cy="374904"/>
          </a:xfrm>
          <a:prstGeom prst="rect">
            <a:avLst/>
          </a:prstGeom>
          <a:solidFill>
            <a:srgbClr val="F6F8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929384" y="3401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Custom 8-byte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337560" y="3346704"/>
            <a:ext cx="1920240" cy="374904"/>
          </a:xfrm>
          <a:prstGeom prst="rect">
            <a:avLst/>
          </a:prstGeom>
          <a:solidFill>
            <a:srgbClr val="F6F8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392424" y="3401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0x180006FF (ext)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257800" y="3346704"/>
            <a:ext cx="1920240" cy="374904"/>
          </a:xfrm>
          <a:prstGeom prst="rect">
            <a:avLst/>
          </a:prstGeom>
          <a:solidFill>
            <a:srgbClr val="F6F8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12664" y="3401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0x1800FF06 (ext)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178040" y="3346704"/>
            <a:ext cx="1005840" cy="374904"/>
          </a:xfrm>
          <a:prstGeom prst="rect">
            <a:avLst/>
          </a:prstGeom>
          <a:solidFill>
            <a:srgbClr val="F6F8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232903" y="34015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250 kbps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183879" y="3346704"/>
            <a:ext cx="1371600" cy="374904"/>
          </a:xfrm>
          <a:prstGeom prst="rect">
            <a:avLst/>
          </a:prstGeom>
          <a:solidFill>
            <a:srgbClr val="F6F8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38744" y="34015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Intel HEX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3730752"/>
            <a:ext cx="1554480" cy="37490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74904" y="3785615"/>
            <a:ext cx="1463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74C3C"/>
                </a:solidFill>
              </a:rPr>
              <a:t>VCU FOTA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74519" y="3730752"/>
            <a:ext cx="14630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929384" y="3785615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UDS / ISO-TP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337560" y="3730752"/>
            <a:ext cx="1920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392424" y="378561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0x7E0 (std 11bit)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257800" y="3730752"/>
            <a:ext cx="19202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312664" y="378561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0x7E8 (std 11bit)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178040" y="3730752"/>
            <a:ext cx="1005840" cy="37490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232903" y="37856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250 kbps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183879" y="3730752"/>
            <a:ext cx="1371600" cy="374904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238744" y="3785615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</a:rPr>
              <a:t>OTA .bin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" y="4251960"/>
            <a:ext cx="808329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84048" y="4279392"/>
            <a:ext cx="73517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OIL PUMP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508760" y="4251960"/>
            <a:ext cx="808329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572768" y="4279392"/>
            <a:ext cx="73517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AIR PUMP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697480" y="4251960"/>
            <a:ext cx="808329" cy="2560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761488" y="4279392"/>
            <a:ext cx="73517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VCU FOTA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886200" y="4251960"/>
            <a:ext cx="808329" cy="256032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950208" y="4279392"/>
            <a:ext cx="73517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EXISTING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20040" y="4663440"/>
            <a:ext cx="11521440" cy="24688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20040" y="4663440"/>
            <a:ext cx="54864" cy="2468880"/>
          </a:xfrm>
          <a:prstGeom prst="rect">
            <a:avLst/>
          </a:prstGeom>
          <a:solidFill>
            <a:srgbClr val="1F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57200" y="4754879"/>
            <a:ext cx="11292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3C69"/>
                </a:solidFill>
              </a:rPr>
              <a:t>Software Architecture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57200" y="5138927"/>
            <a:ext cx="11247119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flashing_logic.py  — all protocol logic classes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  ├─ CANBusWrapper       (PEAK / Vector / Kvaser)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  ├─ FlashingLogic       (UDS, existing controllers)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  ├─ PumpFlashingLogic   (Oil + Air Pump)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  └─ FOTAFlashingLogic   (VCU FOTA, ISO-TP)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jsw_gui.py       — Phase 1 + Phase 2 tabbed GUI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11827"/>
                </a:solidFill>
              </a:rPr>
              <a:t>•  pump_monitor_gui.py — live CAN data monitor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7432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F"/>
                </a:solidFill>
              </a:rPr>
              <a:t>JSW Greentech Limited  —  Controls &amp; Software Department  |  CONFIDENTIAL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058400" y="65836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JSW FlashXpert  V2.0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Summary — JSW FlashXpert V2.0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3C5FD"/>
                </a:solidFill>
              </a:rPr>
              <a:t>Single tool for all JSW powertrain ECU flashing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57784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63040"/>
            <a:ext cx="5577840" cy="22402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557784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Oil + Air Pump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057400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111827"/>
                </a:solidFill>
              </a:rPr>
              <a:t>✓  Both pump types in one tool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11827"/>
                </a:solidFill>
              </a:rPr>
              <a:t>✓  Live ECU broadcast wakeup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11827"/>
                </a:solidFill>
              </a:rPr>
              <a:t>✓  OEM-compatible block parser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11827"/>
                </a:solidFill>
              </a:rPr>
              <a:t>✓  No separate OEM tool needed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0488" y="1463040"/>
            <a:ext cx="5577840" cy="22402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1463040"/>
            <a:ext cx="5577840" cy="4754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79" y="15544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VCU FOTA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79" y="2057400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111827"/>
                </a:solidFill>
              </a:rPr>
              <a:t>✓  Full 10-step UDS sequence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11827"/>
                </a:solidFill>
              </a:rPr>
              <a:t>✓  Separate Phase 2 tab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11827"/>
                </a:solidFill>
              </a:rPr>
              <a:t>✓  OTA binary + DLL workflow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11827"/>
                </a:solidFill>
              </a:rPr>
              <a:t>✓  Up to 5 min transfer exit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886200"/>
            <a:ext cx="5577840" cy="22402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886200"/>
            <a:ext cx="5577840" cy="475488"/>
          </a:xfrm>
          <a:prstGeom prst="rect">
            <a:avLst/>
          </a:prstGeom>
          <a:solidFill>
            <a:srgbClr val="705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397763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Pump Monitor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4480560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111827"/>
                </a:solidFill>
              </a:rPr>
              <a:t>✓  Live CAN data dashboard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11827"/>
                </a:solidFill>
              </a:rPr>
              <a:t>✓  RPM, voltage, temp, faults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11827"/>
                </a:solidFill>
              </a:rPr>
              <a:t>✓  OEM-equivalent monitoring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11827"/>
                </a:solidFill>
              </a:rPr>
              <a:t>✓  PEAK hardware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3886200"/>
            <a:ext cx="5577840" cy="224028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3886200"/>
            <a:ext cx="5577840" cy="475488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79" y="397763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Tool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79" y="4480560"/>
            <a:ext cx="5212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111827"/>
                </a:solidFill>
              </a:rPr>
              <a:t>✓  Single .exe deployment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11827"/>
                </a:solidFill>
              </a:rPr>
              <a:t>✓  Domain-join security check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11827"/>
                </a:solidFill>
              </a:rPr>
              <a:t>✓  Coloured step-by-step sidebar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11827"/>
                </a:solidFill>
              </a:rPr>
              <a:t>✓  Elapsed time + save log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8368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FDBFF"/>
                </a:solidFill>
              </a:rPr>
              <a:t>JSW Greentech Limited  —  Controls &amp; Software Department  |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583680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</a:rPr>
              <a:t>JSW FlashXpert  V2.0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93208"/>
            <a:ext cx="12188952" cy="1764792"/>
          </a:xfrm>
          <a:prstGeom prst="rect">
            <a:avLst/>
          </a:prstGeom>
          <a:solidFill>
            <a:srgbClr val="1F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3C5FD"/>
                </a:solidFill>
              </a:rPr>
              <a:t>JSW FlashXpert V2.0 is ready for deployment.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57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FDBFF"/>
                </a:solidFill>
              </a:rPr>
              <a:t>For queries contact the Controls &amp; Software Department, R&amp;D — JSW Greentech Limited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